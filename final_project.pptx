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340" r:id="rId2"/>
    <p:sldId id="341" r:id="rId3"/>
    <p:sldId id="345" r:id="rId4"/>
    <p:sldId id="346" r:id="rId5"/>
    <p:sldId id="347" r:id="rId6"/>
    <p:sldId id="348" r:id="rId7"/>
    <p:sldId id="349" r:id="rId8"/>
    <p:sldId id="350" r:id="rId9"/>
    <p:sldId id="342" r:id="rId10"/>
    <p:sldId id="351" r:id="rId11"/>
    <p:sldId id="343" r:id="rId12"/>
    <p:sldId id="34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FE0DB16-650D-424D-988A-B18AE0F5DC72}">
          <p14:sldIdLst>
            <p14:sldId id="340"/>
          </p14:sldIdLst>
        </p14:section>
        <p14:section name="Motivation" id="{56025B83-22C1-427A-A613-9C4B906BD2EA}">
          <p14:sldIdLst>
            <p14:sldId id="341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Analysis result" id="{F065CAC7-3672-4C18-9A8D-950D4C15C4BE}">
          <p14:sldIdLst>
            <p14:sldId id="342"/>
            <p14:sldId id="351"/>
          </p14:sldIdLst>
        </p14:section>
        <p14:section name="Conclusion" id="{94188AF6-D323-41AA-A526-39247F4BF3BF}">
          <p14:sldIdLst>
            <p14:sldId id="343"/>
          </p14:sldIdLst>
        </p14:section>
        <p14:section name="Reference" id="{80231428-4A92-452C-ACA2-658939D7C750}">
          <p14:sldIdLst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4D3D3"/>
    <a:srgbClr val="00B050"/>
    <a:srgbClr val="FDDA73"/>
    <a:srgbClr val="C3E59F"/>
    <a:srgbClr val="FFBFBF"/>
    <a:srgbClr val="FFDC73"/>
    <a:srgbClr val="FFEBB0"/>
    <a:srgbClr val="ADE6C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8" autoAdjust="0"/>
    <p:restoredTop sz="96353" autoAdjust="0"/>
  </p:normalViewPr>
  <p:slideViewPr>
    <p:cSldViewPr snapToGrid="0">
      <p:cViewPr>
        <p:scale>
          <a:sx n="75" d="100"/>
          <a:sy n="75" d="100"/>
        </p:scale>
        <p:origin x="1338" y="840"/>
      </p:cViewPr>
      <p:guideLst/>
    </p:cSldViewPr>
  </p:slideViewPr>
  <p:outlineViewPr>
    <p:cViewPr>
      <p:scale>
        <a:sx n="33" d="100"/>
        <a:sy n="33" d="100"/>
      </p:scale>
      <p:origin x="0" y="-21307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r">
              <a:defRPr sz="1200"/>
            </a:lvl1pPr>
          </a:lstStyle>
          <a:p>
            <a:fld id="{CC7D33B4-91AF-435B-A8D9-8F63763B446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2" rIns="91422" bIns="457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22" tIns="45712" rIns="91422" bIns="4571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5"/>
            <a:ext cx="2971800" cy="458787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5"/>
            <a:ext cx="2971800" cy="458787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r">
              <a:defRPr sz="1200"/>
            </a:lvl1pPr>
          </a:lstStyle>
          <a:p>
            <a:fld id="{B65DDD68-1A04-442A-A25A-B902DBB508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6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5DDD68-1A04-442A-A25A-B902DBB508E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62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B8B3C6F-EDCB-4852-8AAC-A2C4C0ECB6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58738"/>
            <a:ext cx="9144000" cy="2387600"/>
          </a:xfrm>
        </p:spPr>
        <p:txBody>
          <a:bodyPr anchor="b"/>
          <a:lstStyle>
            <a:lvl1pPr algn="ctr">
              <a:lnSpc>
                <a:spcPct val="120000"/>
              </a:lnSpc>
              <a:defRPr sz="5400"/>
            </a:lvl1pPr>
          </a:lstStyle>
          <a:p>
            <a:r>
              <a:rPr lang="ko-KR" altLang="en-US" dirty="0"/>
              <a:t>마스터 제목 스타일 편집</a:t>
            </a:r>
            <a:br>
              <a:rPr lang="en-US" altLang="ko-KR" dirty="0"/>
            </a:b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A2DD899C-D802-4A19-A6C4-CD247E2E64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3841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r>
              <a:rPr lang="en-US" altLang="ko-KR" dirty="0"/>
              <a:t>(EN)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59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FE5F296-0DF8-420F-B1FA-4ACFC3DECF2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53148" y="1346199"/>
            <a:ext cx="5200650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03396D25-9861-42CC-B82C-BA5CD8B5B1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그리기이(가) 표시된 사진&#10;&#10;자동 생성된 설명">
            <a:extLst>
              <a:ext uri="{FF2B5EF4-FFF2-40B4-BE49-F238E27FC236}">
                <a16:creationId xmlns:a16="http://schemas.microsoft.com/office/drawing/2014/main" id="{28789106-96A8-4D57-B148-B097EBE6FA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215" y="64511"/>
            <a:ext cx="2001202" cy="403094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F8B78BD4-998C-4970-BD46-5F86EBB82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7349"/>
            <a:ext cx="10515600" cy="466090"/>
          </a:xfrm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2800" b="1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중분류 한글제목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52196893-72CB-4192-B45E-6FD7275B3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856973"/>
            <a:ext cx="10515598" cy="332912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소분류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87525E86-AAED-454C-BC3C-B7268E783E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46200"/>
            <a:ext cx="5200650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38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03396D25-9861-42CC-B82C-BA5CD8B5B1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그리기이(가) 표시된 사진&#10;&#10;자동 생성된 설명">
            <a:extLst>
              <a:ext uri="{FF2B5EF4-FFF2-40B4-BE49-F238E27FC236}">
                <a16:creationId xmlns:a16="http://schemas.microsoft.com/office/drawing/2014/main" id="{28789106-96A8-4D57-B148-B097EBE6FA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215" y="64511"/>
            <a:ext cx="2001202" cy="40309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65C4C27-AB42-408A-BD77-D7C12715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7349"/>
            <a:ext cx="10515600" cy="466090"/>
          </a:xfrm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2800" b="1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중분류 한글제목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AB4ED5DA-A0EE-4797-B4A2-A4C8CD188B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856973"/>
            <a:ext cx="10515598" cy="332912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소분류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C72358CC-3E77-46D1-A79F-9C22B0FF82D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38199" y="1346200"/>
            <a:ext cx="10515597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874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03396D25-9861-42CC-B82C-BA5CD8B5B1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그리기이(가) 표시된 사진&#10;&#10;자동 생성된 설명">
            <a:extLst>
              <a:ext uri="{FF2B5EF4-FFF2-40B4-BE49-F238E27FC236}">
                <a16:creationId xmlns:a16="http://schemas.microsoft.com/office/drawing/2014/main" id="{28789106-96A8-4D57-B148-B097EBE6FA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215" y="64511"/>
            <a:ext cx="2001202" cy="403094"/>
          </a:xfrm>
          <a:prstGeom prst="rect">
            <a:avLst/>
          </a:prstGeom>
        </p:spPr>
      </p:pic>
      <p:sp>
        <p:nvSpPr>
          <p:cNvPr id="9" name="제목 개체 틀 1">
            <a:extLst>
              <a:ext uri="{FF2B5EF4-FFF2-40B4-BE49-F238E27FC236}">
                <a16:creationId xmlns:a16="http://schemas.microsoft.com/office/drawing/2014/main" id="{24C846E8-C165-43E3-A21D-203E8D3F9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중분류 한글제목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21A172B-91BB-4E57-B80C-4526793522F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38199" y="1346200"/>
            <a:ext cx="10515597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8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03396D25-9861-42CC-B82C-BA5CD8B5B1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그리기이(가) 표시된 사진&#10;&#10;자동 생성된 설명">
            <a:extLst>
              <a:ext uri="{FF2B5EF4-FFF2-40B4-BE49-F238E27FC236}">
                <a16:creationId xmlns:a16="http://schemas.microsoft.com/office/drawing/2014/main" id="{28789106-96A8-4D57-B148-B097EBE6FA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215" y="64511"/>
            <a:ext cx="2001202" cy="403094"/>
          </a:xfrm>
          <a:prstGeom prst="rect">
            <a:avLst/>
          </a:prstGeom>
        </p:spPr>
      </p:pic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CF211B0-6FD6-498C-A899-2B59A1884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중분류 한글제목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AB2343E1-52FC-4EE7-BD61-52A30B0F4B7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53148" y="1346199"/>
            <a:ext cx="5200650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C391B5E-1B5C-4AC7-90EB-95C930F09D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46200"/>
            <a:ext cx="5200650" cy="4830763"/>
          </a:xfrm>
        </p:spPr>
        <p:txBody>
          <a:bodyPr>
            <a:normAutofit/>
          </a:bodyPr>
          <a:lstStyle>
            <a:lvl1pPr marL="177800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492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2663" indent="-17780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</a:t>
            </a:r>
            <a:r>
              <a:rPr lang="en-US" altLang="ko-KR" dirty="0"/>
              <a:t>(Master Text)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257300"/>
            <a:ext cx="73152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(EN)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r>
              <a:rPr lang="en-US" altLang="ko-KR" dirty="0"/>
              <a:t>(EN)</a:t>
            </a:r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  <a:r>
              <a:rPr lang="en-US" altLang="ko-KR" dirty="0"/>
              <a:t>(EN)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3396D25-9861-42CC-B82C-BA5CD8B5B1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51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3" r:id="rId4"/>
    <p:sldLayoutId id="2147483664" r:id="rId5"/>
  </p:sldLayoutIdLst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559552" y="4590288"/>
            <a:ext cx="6632448" cy="15819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 anchorCtr="0"/>
          <a:lstStyle/>
          <a:p>
            <a:pPr marL="804863" indent="-625475"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</a:rPr>
              <a:t>Soongsil</a:t>
            </a:r>
            <a:r>
              <a:rPr lang="en-US" altLang="ko-KR" sz="2000" b="1" dirty="0">
                <a:solidFill>
                  <a:schemeClr val="tx1"/>
                </a:solidFill>
              </a:rPr>
              <a:t> University</a:t>
            </a:r>
          </a:p>
          <a:p>
            <a:pPr marL="804863" indent="-625475"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</a:rPr>
              <a:t>Department of Mechanical Engineering</a:t>
            </a:r>
          </a:p>
          <a:p>
            <a:pPr marL="804863" indent="-625475"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</a:rPr>
              <a:t>Jaehoon</a:t>
            </a:r>
            <a:r>
              <a:rPr lang="en-US" altLang="ko-KR" sz="2000" b="1" dirty="0">
                <a:solidFill>
                  <a:schemeClr val="tx1"/>
                </a:solidFill>
              </a:rPr>
              <a:t> Jeong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DB270594-C727-49F8-BCE5-6F89ED6F3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6016"/>
            <a:ext cx="9144000" cy="2499457"/>
          </a:xfrm>
        </p:spPr>
        <p:txBody>
          <a:bodyPr anchor="ctr" anchorCtr="0">
            <a:normAutofit/>
          </a:bodyPr>
          <a:lstStyle/>
          <a:p>
            <a:r>
              <a:rPr lang="ko-KR" altLang="en-US" sz="4800" b="1" dirty="0">
                <a:latin typeface="+mn-lt"/>
              </a:rPr>
              <a:t>신뢰성공학</a:t>
            </a:r>
            <a:br>
              <a:rPr lang="en-US" altLang="ko-KR" sz="4800" b="1" dirty="0">
                <a:latin typeface="+mn-lt"/>
              </a:rPr>
            </a:br>
            <a:r>
              <a:rPr lang="en-US" altLang="ko-KR" sz="2400" b="1" dirty="0">
                <a:latin typeface="+mn-lt"/>
              </a:rPr>
              <a:t>Degradation Measurement of Robot Arm Position Accuracy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1806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77DFE1-A093-E2BA-1634-6835E383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FBF38E1-B299-BF4D-78CF-B5985F4A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C80616F-270B-92A4-CBCD-949305A656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Industrial Applications of Robot Manipulators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A98E53E-E324-19C2-6AC0-547DC94200CD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Manipulator</a:t>
            </a:r>
            <a:r>
              <a:rPr lang="ko-KR" altLang="en-US" sz="1600" dirty="0"/>
              <a:t>는 스마트 </a:t>
            </a:r>
            <a:r>
              <a:rPr lang="ko-KR" altLang="en-US" sz="1600" dirty="0" err="1"/>
              <a:t>팩토리에서</a:t>
            </a:r>
            <a:r>
              <a:rPr lang="ko-KR" altLang="en-US" sz="1600" dirty="0"/>
              <a:t> </a:t>
            </a:r>
            <a:r>
              <a:rPr lang="ko-KR" altLang="en-US" sz="1600" b="1" dirty="0">
                <a:solidFill>
                  <a:srgbClr val="0000FF"/>
                </a:solidFill>
              </a:rPr>
              <a:t>조립</a:t>
            </a:r>
            <a:r>
              <a:rPr lang="en-US" altLang="ko-KR" sz="1600" b="1" dirty="0">
                <a:solidFill>
                  <a:srgbClr val="0000FF"/>
                </a:solidFill>
              </a:rPr>
              <a:t>(assembly), </a:t>
            </a:r>
            <a:r>
              <a:rPr lang="ko-KR" altLang="en-US" sz="1600" b="1" dirty="0" err="1">
                <a:solidFill>
                  <a:srgbClr val="0000FF"/>
                </a:solidFill>
              </a:rPr>
              <a:t>픽앤플레이스</a:t>
            </a:r>
            <a:r>
              <a:rPr lang="en-US" altLang="ko-KR" sz="1600" b="1" dirty="0">
                <a:solidFill>
                  <a:srgbClr val="0000FF"/>
                </a:solidFill>
              </a:rPr>
              <a:t>(pick-and-place) </a:t>
            </a:r>
            <a:r>
              <a:rPr lang="ko-KR" altLang="en-US" sz="1600" dirty="0"/>
              <a:t>등 정밀 반복 공정에 사용되고 있음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이러한 정밀 반복 공정에서 로봇 말단부</a:t>
            </a:r>
            <a:r>
              <a:rPr lang="en-US" altLang="ko-KR" sz="1600" dirty="0"/>
              <a:t>(end effector)</a:t>
            </a:r>
            <a:r>
              <a:rPr lang="ko-KR" altLang="en-US" sz="1600" dirty="0"/>
              <a:t>의 자세 오차는 작업의 실패와 직결됨</a:t>
            </a:r>
            <a:endParaRPr lang="en-US" altLang="ko-KR" sz="16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7584DA5-F215-CBD1-27AD-D2FD2A3ACC54}"/>
              </a:ext>
            </a:extLst>
          </p:cNvPr>
          <p:cNvGrpSpPr/>
          <p:nvPr/>
        </p:nvGrpSpPr>
        <p:grpSpPr>
          <a:xfrm>
            <a:off x="2314336" y="2913228"/>
            <a:ext cx="7563321" cy="3263735"/>
            <a:chOff x="1865811" y="2604998"/>
            <a:chExt cx="8277607" cy="357196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BE12E6C-A8B2-B184-FA28-D229EEB9FD79}"/>
                </a:ext>
              </a:extLst>
            </p:cNvPr>
            <p:cNvGrpSpPr/>
            <p:nvPr/>
          </p:nvGrpSpPr>
          <p:grpSpPr>
            <a:xfrm>
              <a:off x="1865811" y="2604998"/>
              <a:ext cx="2778034" cy="3571965"/>
              <a:chOff x="1865811" y="2604998"/>
              <a:chExt cx="2778034" cy="3571965"/>
            </a:xfrm>
          </p:grpSpPr>
          <p:pic>
            <p:nvPicPr>
              <p:cNvPr id="1026" name="Picture 2" descr="A Solution to Challenging Assembly Tasks - ATI Industrial Automation">
                <a:extLst>
                  <a:ext uri="{FF2B5EF4-FFF2-40B4-BE49-F238E27FC236}">
                    <a16:creationId xmlns:a16="http://schemas.microsoft.com/office/drawing/2014/main" id="{AA776BB0-9FF4-35CC-092F-39B2F9B7AC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65811" y="2604998"/>
                <a:ext cx="2778034" cy="32389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73077F-92F0-63FC-AC1F-7B427108F79F}"/>
                  </a:ext>
                </a:extLst>
              </p:cNvPr>
              <p:cNvSpPr txBox="1"/>
              <p:nvPr/>
            </p:nvSpPr>
            <p:spPr>
              <a:xfrm>
                <a:off x="2114005" y="5869186"/>
                <a:ext cx="22816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/>
                  <a:t>Assembly</a:t>
                </a:r>
                <a:endParaRPr lang="ko-KR" altLang="en-US" sz="1400" b="1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A35F88C-1677-9A0D-533A-251C6B6F7944}"/>
                </a:ext>
              </a:extLst>
            </p:cNvPr>
            <p:cNvGrpSpPr/>
            <p:nvPr/>
          </p:nvGrpSpPr>
          <p:grpSpPr>
            <a:xfrm>
              <a:off x="5285015" y="2604998"/>
              <a:ext cx="4858403" cy="3571965"/>
              <a:chOff x="5285015" y="2604998"/>
              <a:chExt cx="4858403" cy="3571965"/>
            </a:xfrm>
          </p:grpSpPr>
          <p:pic>
            <p:nvPicPr>
              <p:cNvPr id="1028" name="Picture 4" descr="What is a Pick and Place Robot? Uses and Types - Robotics 24/7">
                <a:extLst>
                  <a:ext uri="{FF2B5EF4-FFF2-40B4-BE49-F238E27FC236}">
                    <a16:creationId xmlns:a16="http://schemas.microsoft.com/office/drawing/2014/main" id="{E06414DF-7597-3AA5-910D-E143D7BEF4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5015" y="2604998"/>
                <a:ext cx="4858403" cy="32389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FEA376-9419-48C2-413D-4065DF149F22}"/>
                  </a:ext>
                </a:extLst>
              </p:cNvPr>
              <p:cNvSpPr txBox="1"/>
              <p:nvPr/>
            </p:nvSpPr>
            <p:spPr>
              <a:xfrm>
                <a:off x="6573393" y="5869186"/>
                <a:ext cx="22816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/>
                  <a:t>Pick-and-place</a:t>
                </a:r>
                <a:endParaRPr lang="ko-KR" altLang="en-US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162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172EC7-E51E-996D-A6D9-6C662FE9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F457CB4-C69A-BB2B-91A9-FF88F179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236409-1F1C-0B8F-9F5B-024BF299A4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Degradation Measurement of Robot Arm Position Accuracy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5C6F5A-B986-A336-F792-7A00357B0B84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미국 국립표준기술연구소</a:t>
            </a:r>
            <a:r>
              <a:rPr lang="en-US" altLang="ko-KR" sz="1600" dirty="0"/>
              <a:t>(NIST)</a:t>
            </a:r>
            <a:r>
              <a:rPr lang="ko-KR" altLang="en-US" sz="1600" dirty="0"/>
              <a:t>에서 제공하는 </a:t>
            </a:r>
            <a:r>
              <a:rPr lang="ko-KR" altLang="en-US" sz="1600" dirty="0" err="1"/>
              <a:t>다관절</a:t>
            </a:r>
            <a:r>
              <a:rPr lang="ko-KR" altLang="en-US" sz="1600" dirty="0"/>
              <a:t> 로봇 </a:t>
            </a:r>
            <a:r>
              <a:rPr lang="en-US" altLang="ko-KR" sz="1600" dirty="0"/>
              <a:t>position accuracy</a:t>
            </a:r>
            <a:r>
              <a:rPr lang="ko-KR" altLang="en-US" sz="1600" dirty="0"/>
              <a:t> 열화 측정 데이터셋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Target Robot:</a:t>
            </a:r>
            <a:r>
              <a:rPr lang="en-US" altLang="ko-KR" sz="1400" dirty="0"/>
              <a:t> Universal Robots </a:t>
            </a:r>
            <a:r>
              <a:rPr lang="ko-KR" altLang="en-US" sz="1400" dirty="0"/>
              <a:t>사의 </a:t>
            </a:r>
            <a:r>
              <a:rPr lang="en-US" altLang="ko-KR" sz="1400" dirty="0"/>
              <a:t>UR5</a:t>
            </a:r>
          </a:p>
          <a:p>
            <a:pPr lvl="1">
              <a:lnSpc>
                <a:spcPct val="150000"/>
              </a:lnSpc>
            </a:pPr>
            <a:r>
              <a:rPr lang="en-US" altLang="ko-KR" sz="1400" b="1" dirty="0"/>
              <a:t>Control Factors: </a:t>
            </a:r>
            <a:r>
              <a:rPr lang="en-US" altLang="ko-KR" sz="1400" dirty="0"/>
              <a:t>Temperature(cold start/normal start), Speed(half speed/ full speed), Payload(1.6lb/ 4.5lb)</a:t>
            </a:r>
            <a:endParaRPr lang="ko-KR" altLang="en-US" sz="1400" dirty="0"/>
          </a:p>
        </p:txBody>
      </p:sp>
      <p:pic>
        <p:nvPicPr>
          <p:cNvPr id="2050" name="Picture 2" descr="UR5 Test Result - Robot Measurement">
            <a:extLst>
              <a:ext uri="{FF2B5EF4-FFF2-40B4-BE49-F238E27FC236}">
                <a16:creationId xmlns:a16="http://schemas.microsoft.com/office/drawing/2014/main" id="{0EE4F050-8E6B-D20D-2D53-5134E6FE7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112" y="3008789"/>
            <a:ext cx="5880976" cy="246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55BF98-CE5C-6119-F635-AB6B87BE3B07}"/>
              </a:ext>
            </a:extLst>
          </p:cNvPr>
          <p:cNvSpPr txBox="1"/>
          <p:nvPr/>
        </p:nvSpPr>
        <p:spPr>
          <a:xfrm>
            <a:off x="1063540" y="5636922"/>
            <a:ext cx="3840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Robot fixed loop motion for test method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0BBD3-2322-AFE4-8048-7D9D966F28F8}"/>
              </a:ext>
            </a:extLst>
          </p:cNvPr>
          <p:cNvSpPr txBox="1"/>
          <p:nvPr/>
        </p:nvSpPr>
        <p:spPr>
          <a:xfrm>
            <a:off x="7469777" y="5693249"/>
            <a:ext cx="2281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Data Header</a:t>
            </a:r>
            <a:endParaRPr lang="ko-KR" altLang="en-US" sz="1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8F8F9E-7B6C-B3C0-5CA1-BD250A73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15" y="3075579"/>
            <a:ext cx="4978405" cy="232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5871A-3BE8-AED1-5EEF-F14B4B47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16716A-2AB2-54B1-ED1C-6A3B3028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64499B-D7E2-DAA6-5F7C-7C18160A14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Degradation Measurement of Robot Arm Position Accuracy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77E8B13-D50D-1FD0-C213-C4CD719B5333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해당 데이터의 경우 특정 조건에서 시간이 지남에 따라 노화 등으로 인해 발생하는 </a:t>
            </a:r>
            <a:r>
              <a:rPr lang="en-US" altLang="ko-KR" sz="1600" dirty="0"/>
              <a:t>position accuracy</a:t>
            </a:r>
            <a:r>
              <a:rPr lang="ko-KR" altLang="en-US" sz="1600" dirty="0"/>
              <a:t>의 </a:t>
            </a:r>
            <a:r>
              <a:rPr lang="en-US" altLang="ko-KR" sz="1600" dirty="0"/>
              <a:t>degradation</a:t>
            </a:r>
            <a:r>
              <a:rPr lang="ko-KR" altLang="en-US" sz="1600" dirty="0"/>
              <a:t>이 뚜렷하게 나타나지 않음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B72203-271D-3D14-7E3F-8394F716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413" y="2357719"/>
            <a:ext cx="7575174" cy="355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2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7E0703-E976-7C25-B5B1-706A578A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EE5BDBC-5725-4128-254A-17EBF221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FA19C-6086-5981-4157-56FC2C8AE7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Degradation Measurement of Robot Arm Position Accuracy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98A0B4E-3BA2-B59C-5B26-29BD8349CE9D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또한 </a:t>
            </a:r>
            <a:r>
              <a:rPr lang="en-US" altLang="ko-KR" sz="1600" dirty="0"/>
              <a:t>speed</a:t>
            </a:r>
            <a:r>
              <a:rPr lang="ko-KR" altLang="en-US" sz="1600" dirty="0"/>
              <a:t>에 비하여 </a:t>
            </a:r>
            <a:r>
              <a:rPr lang="en-US" altLang="ko-KR" sz="1600" dirty="0"/>
              <a:t>temperature</a:t>
            </a:r>
            <a:r>
              <a:rPr lang="ko-KR" altLang="en-US" sz="1600" dirty="0"/>
              <a:t>와 </a:t>
            </a:r>
            <a:r>
              <a:rPr lang="en-US" altLang="ko-KR" sz="1600" dirty="0"/>
              <a:t>payload</a:t>
            </a:r>
            <a:r>
              <a:rPr lang="ko-KR" altLang="en-US" sz="1600" dirty="0"/>
              <a:t>가 오차에 주는 영향이 작음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C07E248-001F-CE92-6B2A-C24192F56017}"/>
              </a:ext>
            </a:extLst>
          </p:cNvPr>
          <p:cNvGrpSpPr/>
          <p:nvPr/>
        </p:nvGrpSpPr>
        <p:grpSpPr>
          <a:xfrm>
            <a:off x="3067047" y="2166862"/>
            <a:ext cx="6057900" cy="4372050"/>
            <a:chOff x="2838450" y="1869202"/>
            <a:chExt cx="6515102" cy="470201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85261F-99CA-222A-5034-57617018E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8450" y="1869202"/>
              <a:ext cx="6515102" cy="22802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1229909-C69E-C5CA-D87D-EE9D10267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8450" y="4290934"/>
              <a:ext cx="6515100" cy="2280285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E826D2D-CD04-C783-FD2B-A9234ABFC58A}"/>
              </a:ext>
            </a:extLst>
          </p:cNvPr>
          <p:cNvCxnSpPr>
            <a:cxnSpLocks/>
          </p:cNvCxnSpPr>
          <p:nvPr/>
        </p:nvCxnSpPr>
        <p:spPr>
          <a:xfrm>
            <a:off x="814388" y="1885950"/>
            <a:ext cx="105632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96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1113-A286-1B77-4B7F-03E7E269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170569-5E79-F2D7-0AE9-0F8660BE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3C8C95-69A7-979B-B6D5-2009994B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44813B-C6B2-B217-4418-4445463BF0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Degradation Measurement of Robot Arm Position Accuracy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9AA5D8F-E2A7-1ED8-6D31-6177FB4990A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또한 </a:t>
            </a:r>
            <a:r>
              <a:rPr lang="en-US" altLang="ko-KR" sz="1600" dirty="0"/>
              <a:t>speed</a:t>
            </a:r>
            <a:r>
              <a:rPr lang="ko-KR" altLang="en-US" sz="1600" dirty="0"/>
              <a:t>에 비하여 </a:t>
            </a:r>
            <a:r>
              <a:rPr lang="en-US" altLang="ko-KR" sz="1600" dirty="0"/>
              <a:t>temperature</a:t>
            </a:r>
            <a:r>
              <a:rPr lang="ko-KR" altLang="en-US" sz="1600" dirty="0"/>
              <a:t>와 </a:t>
            </a:r>
            <a:r>
              <a:rPr lang="en-US" altLang="ko-KR" sz="1600" dirty="0"/>
              <a:t>payload</a:t>
            </a:r>
            <a:r>
              <a:rPr lang="ko-KR" altLang="en-US" sz="1600" dirty="0"/>
              <a:t>가 오차에 주는 영향이 작음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DD7337-5518-3569-F9E6-ABEF139BF383}"/>
              </a:ext>
            </a:extLst>
          </p:cNvPr>
          <p:cNvGrpSpPr/>
          <p:nvPr/>
        </p:nvGrpSpPr>
        <p:grpSpPr>
          <a:xfrm>
            <a:off x="3067048" y="2166863"/>
            <a:ext cx="6057898" cy="4372048"/>
            <a:chOff x="3067047" y="2166863"/>
            <a:chExt cx="6057898" cy="437204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37F2DFD-3AFC-5656-4D32-68B261019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7047" y="2166863"/>
              <a:ext cx="6057898" cy="212026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2F40BEB-875B-F6FD-9929-6F12BEAE7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047" y="4418647"/>
              <a:ext cx="6057898" cy="2120264"/>
            </a:xfrm>
            <a:prstGeom prst="rect">
              <a:avLst/>
            </a:prstGeom>
          </p:spPr>
        </p:pic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4FC3BFA-7094-270D-39EC-D8F3F4F4017F}"/>
              </a:ext>
            </a:extLst>
          </p:cNvPr>
          <p:cNvCxnSpPr>
            <a:cxnSpLocks/>
          </p:cNvCxnSpPr>
          <p:nvPr/>
        </p:nvCxnSpPr>
        <p:spPr>
          <a:xfrm>
            <a:off x="814388" y="1885950"/>
            <a:ext cx="105632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112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E08B-61A7-ABE2-1BBB-96EDFD48D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28D15F-B047-EE9C-CC63-96F60480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E90664-93FD-A505-D8FD-219DCC4B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8AAAA1-93B5-7DBB-C890-69FF951E33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Degradation Measurement of Robot Arm Position Accuracy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D230927-4698-5065-0AB1-620B1762F7A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또한 </a:t>
            </a:r>
            <a:r>
              <a:rPr lang="en-US" altLang="ko-KR" sz="1600" dirty="0"/>
              <a:t>speed</a:t>
            </a:r>
            <a:r>
              <a:rPr lang="ko-KR" altLang="en-US" sz="1600" dirty="0"/>
              <a:t>에 비하여 </a:t>
            </a:r>
            <a:r>
              <a:rPr lang="en-US" altLang="ko-KR" sz="1600" dirty="0"/>
              <a:t>temperature</a:t>
            </a:r>
            <a:r>
              <a:rPr lang="ko-KR" altLang="en-US" sz="1600" dirty="0"/>
              <a:t>와 </a:t>
            </a:r>
            <a:r>
              <a:rPr lang="en-US" altLang="ko-KR" sz="1600" dirty="0"/>
              <a:t>payload</a:t>
            </a:r>
            <a:r>
              <a:rPr lang="ko-KR" altLang="en-US" sz="1600" dirty="0"/>
              <a:t>가 오차에 주는 영향이 작음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564A029-11B8-7B28-5FFE-CA14BA407CBE}"/>
              </a:ext>
            </a:extLst>
          </p:cNvPr>
          <p:cNvCxnSpPr>
            <a:cxnSpLocks/>
          </p:cNvCxnSpPr>
          <p:nvPr/>
        </p:nvCxnSpPr>
        <p:spPr>
          <a:xfrm>
            <a:off x="814388" y="1885950"/>
            <a:ext cx="105632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9725DBC-ECE9-EBDD-E745-3D7EDBAE26EB}"/>
              </a:ext>
            </a:extLst>
          </p:cNvPr>
          <p:cNvGrpSpPr/>
          <p:nvPr/>
        </p:nvGrpSpPr>
        <p:grpSpPr>
          <a:xfrm>
            <a:off x="3067048" y="2166863"/>
            <a:ext cx="6057898" cy="4372048"/>
            <a:chOff x="3067047" y="2166863"/>
            <a:chExt cx="6057898" cy="437204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28FF1C9-7B18-EF8D-709C-771D9626E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7047" y="2166863"/>
              <a:ext cx="6057898" cy="212026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7FE1847-7643-B518-3DAB-EF996295F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047" y="4418647"/>
              <a:ext cx="6057898" cy="2120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83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65FD9C-37EF-E0CF-4C7E-EB1EC501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405053-0E8C-C8B6-FE36-E3E01CEE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Motivation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981C9B-EC67-677F-46AB-7D1050967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Overview of Project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4D2BE08-E1DD-E04B-C291-33F95876B2A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본 프로젝트는 </a:t>
            </a:r>
            <a:r>
              <a:rPr lang="en-US" altLang="ko-KR" sz="1600" dirty="0"/>
              <a:t>NIST UR5 </a:t>
            </a:r>
            <a:r>
              <a:rPr lang="ko-KR" altLang="en-US" sz="1600" dirty="0"/>
              <a:t>운전 데이터에서 계산한 </a:t>
            </a:r>
            <a:r>
              <a:rPr lang="en-US" altLang="ko-KR" sz="1600" b="1" dirty="0">
                <a:solidFill>
                  <a:srgbClr val="0000FF"/>
                </a:solidFill>
              </a:rPr>
              <a:t>cartesian tracking error</a:t>
            </a:r>
            <a:r>
              <a:rPr lang="ko-KR" altLang="en-US" sz="1600" b="1" dirty="0">
                <a:solidFill>
                  <a:srgbClr val="0000FF"/>
                </a:solidFill>
              </a:rPr>
              <a:t>를 확률분포로 모델링</a:t>
            </a:r>
            <a:r>
              <a:rPr lang="ko-KR" altLang="en-US" sz="1600" dirty="0"/>
              <a:t>하고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사용자가 지정한 </a:t>
            </a:r>
            <a:r>
              <a:rPr lang="ko-KR" altLang="en-US" sz="1600" b="1" dirty="0">
                <a:solidFill>
                  <a:srgbClr val="0000FF"/>
                </a:solidFill>
              </a:rPr>
              <a:t>허용오차와 요구 신뢰도를 만족하는 최대 </a:t>
            </a:r>
            <a:r>
              <a:rPr lang="en-US" altLang="ko-KR" sz="1600" b="1" dirty="0">
                <a:solidFill>
                  <a:srgbClr val="0000FF"/>
                </a:solidFill>
              </a:rPr>
              <a:t>speed scale factor</a:t>
            </a:r>
            <a:r>
              <a:rPr lang="ko-KR" altLang="en-US" sz="1600" b="1" dirty="0">
                <a:solidFill>
                  <a:srgbClr val="0000FF"/>
                </a:solidFill>
              </a:rPr>
              <a:t>를 추정함</a:t>
            </a:r>
            <a:endParaRPr lang="en-US" altLang="ko-KR" sz="16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/>
              <a:t>로봇 말단부의 </a:t>
            </a:r>
            <a:r>
              <a:rPr lang="en-US" altLang="ko-KR" sz="1600" dirty="0"/>
              <a:t>tracking error</a:t>
            </a:r>
            <a:r>
              <a:rPr lang="ko-KR" altLang="en-US" sz="1600" dirty="0"/>
              <a:t>를 물리적 특성에 따라 </a:t>
            </a:r>
            <a:r>
              <a:rPr lang="en-US" altLang="ko-KR" sz="1600" dirty="0"/>
              <a:t>position error</a:t>
            </a:r>
            <a:r>
              <a:rPr lang="ko-KR" altLang="en-US" sz="1600" dirty="0"/>
              <a:t>와 </a:t>
            </a:r>
            <a:r>
              <a:rPr lang="en-US" altLang="ko-KR" sz="1600" dirty="0"/>
              <a:t>orientation error</a:t>
            </a:r>
            <a:r>
              <a:rPr lang="ko-KR" altLang="en-US" sz="1600" dirty="0"/>
              <a:t>로 나누어 추정함</a:t>
            </a:r>
            <a:endParaRPr lang="en-US" altLang="ko-KR" sz="16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D67005-BF92-894C-0268-D02341331A46}"/>
              </a:ext>
            </a:extLst>
          </p:cNvPr>
          <p:cNvGrpSpPr/>
          <p:nvPr/>
        </p:nvGrpSpPr>
        <p:grpSpPr>
          <a:xfrm>
            <a:off x="1615887" y="3067515"/>
            <a:ext cx="8960220" cy="2320318"/>
            <a:chOff x="2393576" y="3049586"/>
            <a:chExt cx="8960220" cy="232031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A4D7B02-37F3-7DFA-0950-FF72B05E963C}"/>
                </a:ext>
              </a:extLst>
            </p:cNvPr>
            <p:cNvSpPr/>
            <p:nvPr/>
          </p:nvSpPr>
          <p:spPr>
            <a:xfrm>
              <a:off x="5024438" y="3049586"/>
              <a:ext cx="3075174" cy="8467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ko-KR" sz="1400" b="1" dirty="0"/>
                <a:t>Speed Scale Factor Optimization based on Position Error</a:t>
              </a:r>
              <a:endParaRPr lang="ko-KR" altLang="en-US" sz="1400" b="1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C912A19-E73E-A36F-D4C5-5DD9E6D1DCF3}"/>
                </a:ext>
              </a:extLst>
            </p:cNvPr>
            <p:cNvSpPr/>
            <p:nvPr/>
          </p:nvSpPr>
          <p:spPr>
            <a:xfrm>
              <a:off x="5024438" y="4613275"/>
              <a:ext cx="3075174" cy="7566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ko-KR" sz="1400" b="1" dirty="0"/>
                <a:t>Speed Scale Factor Optimization based on Orientation Error</a:t>
              </a:r>
              <a:endParaRPr lang="ko-KR" altLang="en-US" sz="1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7B5DEA-F2F8-AE30-1027-C833CEE37E67}"/>
                </a:ext>
              </a:extLst>
            </p:cNvPr>
            <p:cNvSpPr txBox="1"/>
            <p:nvPr/>
          </p:nvSpPr>
          <p:spPr>
            <a:xfrm>
              <a:off x="2501154" y="3334439"/>
              <a:ext cx="18825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Position tolerance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125DE9-FF26-6A0B-874B-9C04901A6AB9}"/>
                </a:ext>
              </a:extLst>
            </p:cNvPr>
            <p:cNvSpPr txBox="1"/>
            <p:nvPr/>
          </p:nvSpPr>
          <p:spPr>
            <a:xfrm>
              <a:off x="2393576" y="4853090"/>
              <a:ext cx="19901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Orientation tolerance</a:t>
              </a:r>
              <a:endParaRPr lang="ko-KR" altLang="en-US" sz="1200" b="1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AF6E96C-6A2E-4BFC-E67A-3C96DE9D7449}"/>
                </a:ext>
              </a:extLst>
            </p:cNvPr>
            <p:cNvCxnSpPr>
              <a:cxnSpLocks/>
              <a:stCxn id="10" idx="3"/>
              <a:endCxn id="8" idx="1"/>
            </p:cNvCxnSpPr>
            <p:nvPr/>
          </p:nvCxnSpPr>
          <p:spPr>
            <a:xfrm>
              <a:off x="4383742" y="3472939"/>
              <a:ext cx="6406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DB5278C-37D8-9A81-DBA4-5D904C45248F}"/>
                </a:ext>
              </a:extLst>
            </p:cNvPr>
            <p:cNvCxnSpPr>
              <a:cxnSpLocks/>
              <a:stCxn id="11" idx="3"/>
              <a:endCxn id="9" idx="1"/>
            </p:cNvCxnSpPr>
            <p:nvPr/>
          </p:nvCxnSpPr>
          <p:spPr>
            <a:xfrm>
              <a:off x="4383742" y="4991590"/>
              <a:ext cx="6406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0E8C0F-56CE-ED47-A82C-C17542AD9200}"/>
                </a:ext>
              </a:extLst>
            </p:cNvPr>
            <p:cNvSpPr txBox="1"/>
            <p:nvPr/>
          </p:nvSpPr>
          <p:spPr>
            <a:xfrm>
              <a:off x="9471208" y="4075679"/>
              <a:ext cx="18825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Speed scale factor</a:t>
              </a:r>
              <a:endParaRPr lang="ko-KR" altLang="en-US" sz="1200" b="1" dirty="0"/>
            </a:p>
          </p:txBody>
        </p: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49556659-2FAA-EAAC-FCD5-90242ACB477B}"/>
                </a:ext>
              </a:extLst>
            </p:cNvPr>
            <p:cNvCxnSpPr>
              <a:cxnSpLocks/>
              <a:stCxn id="8" idx="3"/>
              <a:endCxn id="17" idx="1"/>
            </p:cNvCxnSpPr>
            <p:nvPr/>
          </p:nvCxnSpPr>
          <p:spPr>
            <a:xfrm>
              <a:off x="8099612" y="3472939"/>
              <a:ext cx="1371596" cy="7412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6F8B094D-7730-870A-1ED0-24123112AF6D}"/>
                </a:ext>
              </a:extLst>
            </p:cNvPr>
            <p:cNvCxnSpPr>
              <a:cxnSpLocks/>
              <a:stCxn id="9" idx="3"/>
              <a:endCxn id="17" idx="1"/>
            </p:cNvCxnSpPr>
            <p:nvPr/>
          </p:nvCxnSpPr>
          <p:spPr>
            <a:xfrm flipV="1">
              <a:off x="8099612" y="4214179"/>
              <a:ext cx="1371596" cy="777411"/>
            </a:xfrm>
            <a:prstGeom prst="bentConnector3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740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C3FD63-C010-3375-4E95-F603268B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087A861-1D4F-8B68-0290-8062528B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F295CEF-0012-D8BD-F3E6-6DB3E85C0A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Tracking Error Distribution Modeling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8BC9CEC-294E-53F9-3657-D18BC9FA38B2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주어진 데이터를 기반으로 </a:t>
            </a:r>
            <a:r>
              <a:rPr lang="en-US" altLang="ko-KR" sz="1600" dirty="0"/>
              <a:t>Normal, Lognormal, Weibull </a:t>
            </a:r>
            <a:r>
              <a:rPr lang="ko-KR" altLang="en-US" sz="1600" dirty="0"/>
              <a:t>분포로 가정하고 </a:t>
            </a:r>
            <a:r>
              <a:rPr lang="en-US" altLang="ko-KR" sz="1600" dirty="0"/>
              <a:t>MLE</a:t>
            </a:r>
            <a:r>
              <a:rPr lang="ko-KR" altLang="en-US" sz="1600" dirty="0"/>
              <a:t>를 통해 파라미터를 결정함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A87ED84-0D30-960C-5C37-DD4847EC5D64}"/>
              </a:ext>
            </a:extLst>
          </p:cNvPr>
          <p:cNvGrpSpPr/>
          <p:nvPr/>
        </p:nvGrpSpPr>
        <p:grpSpPr>
          <a:xfrm>
            <a:off x="2626517" y="2019886"/>
            <a:ext cx="6938966" cy="4460765"/>
            <a:chOff x="838199" y="2090141"/>
            <a:chExt cx="8190379" cy="526524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77E45F0D-97B3-2E25-EB70-EFBAB1689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199" y="2090141"/>
              <a:ext cx="4095190" cy="263262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6CDC29-A81C-4DDB-B994-FBED4F4D0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199" y="4722763"/>
              <a:ext cx="4095190" cy="263262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4D3A84F-6FE6-98CC-6A38-59FDE62B1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3389" y="2090141"/>
              <a:ext cx="4095189" cy="263262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04A095A-8EF8-990C-C011-84F81776C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33389" y="4722764"/>
              <a:ext cx="4095189" cy="26326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43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A9F002-84B2-5C52-F476-B84E2AF3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5706CF-53F1-5A68-06F5-EBBC33E6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8A7978-3CE9-E1DC-19FA-E2E1F4BDED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856973"/>
            <a:ext cx="10515598" cy="335413"/>
          </a:xfrm>
        </p:spPr>
        <p:txBody>
          <a:bodyPr/>
          <a:lstStyle/>
          <a:p>
            <a:r>
              <a:rPr lang="en-US" altLang="ko-KR" dirty="0"/>
              <a:t>Tracking Error Distribution Modeling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9E30939-B6A8-25EB-EBB1-D74E64A2F928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Probability plot</a:t>
            </a:r>
            <a:r>
              <a:rPr lang="ko-KR" altLang="en-US" sz="1600" dirty="0"/>
              <a:t>을 통해 </a:t>
            </a:r>
            <a:r>
              <a:rPr lang="en-US" altLang="ko-KR" sz="1600" dirty="0"/>
              <a:t>Lognormal distribution</a:t>
            </a:r>
            <a:r>
              <a:rPr lang="ko-KR" altLang="en-US" sz="1600" dirty="0"/>
              <a:t>으로 결정함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70E2B7F-D400-D257-3171-B85C465BB2C5}"/>
              </a:ext>
            </a:extLst>
          </p:cNvPr>
          <p:cNvGrpSpPr/>
          <p:nvPr/>
        </p:nvGrpSpPr>
        <p:grpSpPr>
          <a:xfrm>
            <a:off x="245181" y="2101359"/>
            <a:ext cx="11701632" cy="3906044"/>
            <a:chOff x="-1321524" y="2111098"/>
            <a:chExt cx="12095521" cy="40375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6EA5786-913C-EEA1-BDFF-5A1B579AD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321524" y="2111098"/>
              <a:ext cx="5972175" cy="201876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BC2B161-8796-989A-E0B6-563F877B7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321520" y="4129861"/>
              <a:ext cx="5972171" cy="201876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D160599-1B1D-161D-8310-45A4AF3F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1826" y="2111098"/>
              <a:ext cx="5972171" cy="201876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9E6A1C1-773E-5BB4-BFAD-4684F530C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1823" y="4129860"/>
              <a:ext cx="5972174" cy="2018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5476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A75D8C-0D28-65A7-EED2-058C8165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AA8FD395-2341-E78F-D47B-5C5BDA97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BC0C0D-57F0-599C-3F9D-6BD45B5319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55C2126-0744-7A36-44D4-D718541FE284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321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4CB442-50A7-3152-58FE-904881FB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6D25-9861-42CC-B82C-BA5CD8B5B13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5641E316-1029-B502-E52F-2F71A524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59216C8-A4B4-7196-15A3-AF94A0787DD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Qiao,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Guixiu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Brian A. Weiss. "Accuracy degradation analysis for industrial robot systems." International Manufacturing Science and Engineering Conference. Vol. 50749. American Society of Mechanical Engineers, 2017.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6985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>
            <a:alpha val="13000"/>
          </a:srgbClr>
        </a:solidFill>
      </a:spPr>
      <a:bodyPr wrap="square" lIns="0" tIns="0" rIns="0" bIns="0" rtlCol="0" anchor="ctr" anchorCtr="0">
        <a:noAutofit/>
      </a:bodyPr>
      <a:lstStyle>
        <a:defPPr algn="ctr">
          <a:lnSpc>
            <a:spcPct val="150000"/>
          </a:lnSpc>
          <a:spcBef>
            <a:spcPts val="600"/>
          </a:spcBef>
          <a:defRPr sz="1600" b="1" dirty="0" smtClean="0"/>
        </a:defPPr>
      </a:lstStyle>
    </a:spDef>
    <a:lnDef>
      <a:spPr>
        <a:ln>
          <a:solidFill>
            <a:srgbClr val="FF000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9591</TotalTime>
  <Words>371</Words>
  <Application>Microsoft Office PowerPoint</Application>
  <PresentationFormat>와이드스크린</PresentationFormat>
  <Paragraphs>59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Times New Roman</vt:lpstr>
      <vt:lpstr>Trebuchet MS</vt:lpstr>
      <vt:lpstr>1_Office 테마</vt:lpstr>
      <vt:lpstr>신뢰성공학 Degradation Measurement of Robot Arm Position Accuracy</vt:lpstr>
      <vt:lpstr>Project Motivation</vt:lpstr>
      <vt:lpstr>Project Motivation</vt:lpstr>
      <vt:lpstr>Project Motivation</vt:lpstr>
      <vt:lpstr>Project Motivation</vt:lpstr>
      <vt:lpstr>Project Motivation</vt:lpstr>
      <vt:lpstr>Project Motivation</vt:lpstr>
      <vt:lpstr>Project Motivation</vt:lpstr>
      <vt:lpstr>Results</vt:lpstr>
      <vt:lpstr>Results</vt:lpstr>
      <vt:lpstr>PowerPoint 프레젠테이션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- 1 Week : Introduction- Manipulator &amp; Mobileplatform</dc:title>
  <dc:creator>Yu Jiwon</dc:creator>
  <cp:lastModifiedBy>정재훈</cp:lastModifiedBy>
  <cp:revision>971</cp:revision>
  <cp:lastPrinted>2020-10-28T14:09:44Z</cp:lastPrinted>
  <dcterms:created xsi:type="dcterms:W3CDTF">2020-08-31T04:31:27Z</dcterms:created>
  <dcterms:modified xsi:type="dcterms:W3CDTF">2026-06-14T18:44:09Z</dcterms:modified>
</cp:coreProperties>
</file>