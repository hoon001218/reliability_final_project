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340" r:id="rId2"/>
    <p:sldId id="341" r:id="rId3"/>
    <p:sldId id="345" r:id="rId4"/>
    <p:sldId id="346" r:id="rId5"/>
    <p:sldId id="342" r:id="rId6"/>
    <p:sldId id="343" r:id="rId7"/>
    <p:sldId id="34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FE0DB16-650D-424D-988A-B18AE0F5DC72}">
          <p14:sldIdLst>
            <p14:sldId id="340"/>
          </p14:sldIdLst>
        </p14:section>
        <p14:section name="Motivation" id="{56025B83-22C1-427A-A613-9C4B906BD2EA}">
          <p14:sldIdLst>
            <p14:sldId id="341"/>
            <p14:sldId id="345"/>
            <p14:sldId id="346"/>
          </p14:sldIdLst>
        </p14:section>
        <p14:section name="Analysis result" id="{F065CAC7-3672-4C18-9A8D-950D4C15C4BE}">
          <p14:sldIdLst>
            <p14:sldId id="342"/>
          </p14:sldIdLst>
        </p14:section>
        <p14:section name="Conclusion" id="{94188AF6-D323-41AA-A526-39247F4BF3BF}">
          <p14:sldIdLst>
            <p14:sldId id="343"/>
          </p14:sldIdLst>
        </p14:section>
        <p14:section name="Reference" id="{80231428-4A92-452C-ACA2-658939D7C750}">
          <p14:sldIdLst>
            <p14:sldId id="34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4D3D3"/>
    <a:srgbClr val="00B050"/>
    <a:srgbClr val="FDDA73"/>
    <a:srgbClr val="C3E59F"/>
    <a:srgbClr val="FFBFBF"/>
    <a:srgbClr val="FFDC73"/>
    <a:srgbClr val="FFEBB0"/>
    <a:srgbClr val="ADE6C7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EBBBCC-DAD2-459C-BE2E-F6DE35CF9A28}" styleName="어두운 스타일 2 - 강조 3/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202B0CA-FC54-4496-8BCA-5EF66A818D29}" styleName="어두운 스타일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53" autoAdjust="0"/>
  </p:normalViewPr>
  <p:slideViewPr>
    <p:cSldViewPr snapToGrid="0">
      <p:cViewPr varScale="1">
        <p:scale>
          <a:sx n="110" d="100"/>
          <a:sy n="110" d="100"/>
        </p:scale>
        <p:origin x="780" y="96"/>
      </p:cViewPr>
      <p:guideLst/>
    </p:cSldViewPr>
  </p:slideViewPr>
  <p:outlineViewPr>
    <p:cViewPr>
      <p:scale>
        <a:sx n="33" d="100"/>
        <a:sy n="33" d="100"/>
      </p:scale>
      <p:origin x="0" y="-21307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22" tIns="45712" rIns="91422" bIns="45712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22" tIns="45712" rIns="91422" bIns="45712" rtlCol="0"/>
          <a:lstStyle>
            <a:lvl1pPr algn="r">
              <a:defRPr sz="1200"/>
            </a:lvl1pPr>
          </a:lstStyle>
          <a:p>
            <a:fld id="{CC7D33B4-91AF-435B-A8D9-8F63763B446E}" type="datetimeFigureOut">
              <a:rPr lang="ko-KR" altLang="en-US" smtClean="0"/>
              <a:t>2026-06-14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2" rIns="91422" bIns="45712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22" tIns="45712" rIns="91422" bIns="45712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5"/>
            <a:ext cx="2971800" cy="458787"/>
          </a:xfrm>
          <a:prstGeom prst="rect">
            <a:avLst/>
          </a:prstGeom>
        </p:spPr>
        <p:txBody>
          <a:bodyPr vert="horz" lIns="91422" tIns="45712" rIns="91422" bIns="45712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5"/>
            <a:ext cx="2971800" cy="458787"/>
          </a:xfrm>
          <a:prstGeom prst="rect">
            <a:avLst/>
          </a:prstGeom>
        </p:spPr>
        <p:txBody>
          <a:bodyPr vert="horz" lIns="91422" tIns="45712" rIns="91422" bIns="45712" rtlCol="0" anchor="b"/>
          <a:lstStyle>
            <a:lvl1pPr algn="r">
              <a:defRPr sz="1200"/>
            </a:lvl1pPr>
          </a:lstStyle>
          <a:p>
            <a:fld id="{B65DDD68-1A04-442A-A25A-B902DBB508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65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5DDD68-1A04-442A-A25A-B902DBB508E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6623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B8B3C6F-EDCB-4852-8AAC-A2C4C0ECB6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858738"/>
            <a:ext cx="9144000" cy="2387600"/>
          </a:xfrm>
        </p:spPr>
        <p:txBody>
          <a:bodyPr anchor="b"/>
          <a:lstStyle>
            <a:lvl1pPr algn="ctr">
              <a:lnSpc>
                <a:spcPct val="120000"/>
              </a:lnSpc>
              <a:defRPr sz="5400"/>
            </a:lvl1pPr>
          </a:lstStyle>
          <a:p>
            <a:r>
              <a:rPr lang="ko-KR" altLang="en-US" dirty="0"/>
              <a:t>마스터 제목 스타일 편집</a:t>
            </a:r>
            <a:br>
              <a:rPr lang="en-US" altLang="ko-KR" dirty="0"/>
            </a:b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9" name="부제목 2">
            <a:extLst>
              <a:ext uri="{FF2B5EF4-FFF2-40B4-BE49-F238E27FC236}">
                <a16:creationId xmlns:a16="http://schemas.microsoft.com/office/drawing/2014/main" id="{A2DD899C-D802-4A19-A6C4-CD247E2E648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38413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r>
              <a:rPr lang="en-US" altLang="ko-KR" dirty="0"/>
              <a:t>(EN)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3593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DFE5F296-0DF8-420F-B1FA-4ACFC3DECF2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153148" y="1346199"/>
            <a:ext cx="5200650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Trebuchet MS" panose="020B0603020202020204" pitchFamily="34" charset="0"/>
              </a:defRPr>
            </a:lvl1pPr>
          </a:lstStyle>
          <a:p>
            <a:fld id="{03396D25-9861-42CC-B82C-BA5CD8B5B13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1" name="그림 10" descr="그리기이(가) 표시된 사진&#10;&#10;자동 생성된 설명">
            <a:extLst>
              <a:ext uri="{FF2B5EF4-FFF2-40B4-BE49-F238E27FC236}">
                <a16:creationId xmlns:a16="http://schemas.microsoft.com/office/drawing/2014/main" id="{28789106-96A8-4D57-B148-B097EBE6FA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3215" y="64511"/>
            <a:ext cx="2001202" cy="403094"/>
          </a:xfrm>
          <a:prstGeom prst="rect">
            <a:avLst/>
          </a:prstGeom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F8B78BD4-998C-4970-BD46-5F86EBB82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77349"/>
            <a:ext cx="10515600" cy="466090"/>
          </a:xfrm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2800" b="1">
                <a:effectLst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중분류 한글제목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4" name="텍스트 개체 틀 3">
            <a:extLst>
              <a:ext uri="{FF2B5EF4-FFF2-40B4-BE49-F238E27FC236}">
                <a16:creationId xmlns:a16="http://schemas.microsoft.com/office/drawing/2014/main" id="{52196893-72CB-4192-B45E-6FD7275B3C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856973"/>
            <a:ext cx="10515598" cy="332912"/>
          </a:xfr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2000" b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ko-KR" altLang="en-US" dirty="0"/>
              <a:t>소분류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87525E86-AAED-454C-BC3C-B7268E783E2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346200"/>
            <a:ext cx="5200650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8386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Trebuchet MS" panose="020B0603020202020204" pitchFamily="34" charset="0"/>
              </a:defRPr>
            </a:lvl1pPr>
          </a:lstStyle>
          <a:p>
            <a:fld id="{03396D25-9861-42CC-B82C-BA5CD8B5B13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1" name="그림 10" descr="그리기이(가) 표시된 사진&#10;&#10;자동 생성된 설명">
            <a:extLst>
              <a:ext uri="{FF2B5EF4-FFF2-40B4-BE49-F238E27FC236}">
                <a16:creationId xmlns:a16="http://schemas.microsoft.com/office/drawing/2014/main" id="{28789106-96A8-4D57-B148-B097EBE6FA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3215" y="64511"/>
            <a:ext cx="2001202" cy="403094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E65C4C27-AB42-408A-BD77-D7C12715F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77349"/>
            <a:ext cx="10515600" cy="466090"/>
          </a:xfrm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2800" b="1">
                <a:effectLst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중분류 한글제목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id="{AB4ED5DA-A0EE-4797-B4A2-A4C8CD188B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856973"/>
            <a:ext cx="10515598" cy="332912"/>
          </a:xfr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2000" b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ko-KR" altLang="en-US" dirty="0"/>
              <a:t>소분류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C72358CC-3E77-46D1-A79F-9C22B0FF82D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38199" y="1346200"/>
            <a:ext cx="10515597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8744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Trebuchet MS" panose="020B0603020202020204" pitchFamily="34" charset="0"/>
              </a:defRPr>
            </a:lvl1pPr>
          </a:lstStyle>
          <a:p>
            <a:fld id="{03396D25-9861-42CC-B82C-BA5CD8B5B13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1" name="그림 10" descr="그리기이(가) 표시된 사진&#10;&#10;자동 생성된 설명">
            <a:extLst>
              <a:ext uri="{FF2B5EF4-FFF2-40B4-BE49-F238E27FC236}">
                <a16:creationId xmlns:a16="http://schemas.microsoft.com/office/drawing/2014/main" id="{28789106-96A8-4D57-B148-B097EBE6FA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3215" y="64511"/>
            <a:ext cx="2001202" cy="403094"/>
          </a:xfrm>
          <a:prstGeom prst="rect">
            <a:avLst/>
          </a:prstGeom>
        </p:spPr>
      </p:pic>
      <p:sp>
        <p:nvSpPr>
          <p:cNvPr id="9" name="제목 개체 틀 1">
            <a:extLst>
              <a:ext uri="{FF2B5EF4-FFF2-40B4-BE49-F238E27FC236}">
                <a16:creationId xmlns:a16="http://schemas.microsoft.com/office/drawing/2014/main" id="{24C846E8-C165-43E3-A21D-203E8D3F9C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중분류 한글제목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21A172B-91BB-4E57-B80C-4526793522F8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838199" y="1346200"/>
            <a:ext cx="10515597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85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Trebuchet MS" panose="020B0603020202020204" pitchFamily="34" charset="0"/>
              </a:defRPr>
            </a:lvl1pPr>
          </a:lstStyle>
          <a:p>
            <a:fld id="{03396D25-9861-42CC-B82C-BA5CD8B5B13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11" name="그림 10" descr="그리기이(가) 표시된 사진&#10;&#10;자동 생성된 설명">
            <a:extLst>
              <a:ext uri="{FF2B5EF4-FFF2-40B4-BE49-F238E27FC236}">
                <a16:creationId xmlns:a16="http://schemas.microsoft.com/office/drawing/2014/main" id="{28789106-96A8-4D57-B148-B097EBE6FA6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3215" y="64511"/>
            <a:ext cx="2001202" cy="403094"/>
          </a:xfrm>
          <a:prstGeom prst="rect">
            <a:avLst/>
          </a:prstGeom>
        </p:spPr>
      </p:pic>
      <p:sp>
        <p:nvSpPr>
          <p:cNvPr id="12" name="제목 개체 틀 1">
            <a:extLst>
              <a:ext uri="{FF2B5EF4-FFF2-40B4-BE49-F238E27FC236}">
                <a16:creationId xmlns:a16="http://schemas.microsoft.com/office/drawing/2014/main" id="{1CF211B0-6FD6-498C-A899-2B59A18840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중분류 한글제목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AB2343E1-52FC-4EE7-BD61-52A30B0F4B7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6153148" y="1346199"/>
            <a:ext cx="5200650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DC391B5E-1B5C-4AC7-90EB-95C930F09D4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346200"/>
            <a:ext cx="5200650" cy="4830763"/>
          </a:xfrm>
        </p:spPr>
        <p:txBody>
          <a:bodyPr>
            <a:normAutofit/>
          </a:bodyPr>
          <a:lstStyle>
            <a:lvl1pPr marL="177800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aseline="0"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492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19138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2663" indent="-177800" algn="just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latin typeface="Trebuchet MS" panose="020B0603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</a:t>
            </a:r>
            <a:r>
              <a:rPr lang="en-US" altLang="ko-KR" dirty="0"/>
              <a:t>(Master Text)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104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7875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257300"/>
            <a:ext cx="7315200" cy="4919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(EN)</a:t>
            </a:r>
            <a:endParaRPr lang="ko-KR" altLang="en-US" dirty="0"/>
          </a:p>
          <a:p>
            <a:pPr lvl="1"/>
            <a:r>
              <a:rPr lang="ko-KR" altLang="en-US" dirty="0"/>
              <a:t>둘째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2"/>
            <a:r>
              <a:rPr lang="ko-KR" altLang="en-US" dirty="0"/>
              <a:t>셋째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3"/>
            <a:r>
              <a:rPr lang="ko-KR" altLang="en-US" dirty="0"/>
              <a:t>넷째 수준</a:t>
            </a:r>
            <a:r>
              <a:rPr lang="en-US" altLang="ko-KR" dirty="0"/>
              <a:t>(EN)</a:t>
            </a:r>
            <a:endParaRPr lang="ko-KR" altLang="en-US" dirty="0"/>
          </a:p>
          <a:p>
            <a:pPr lvl="4"/>
            <a:r>
              <a:rPr lang="ko-KR" altLang="en-US" dirty="0"/>
              <a:t>다섯째 수준</a:t>
            </a:r>
            <a:r>
              <a:rPr lang="en-US" altLang="ko-KR" dirty="0"/>
              <a:t>(EN)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03396D25-9861-42CC-B82C-BA5CD8B5B13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514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3" r:id="rId4"/>
    <p:sldLayoutId id="2147483664" r:id="rId5"/>
  </p:sldLayoutIdLst>
  <p:hf hdr="0" dt="0"/>
  <p:txStyles>
    <p:titleStyle>
      <a:lvl1pPr algn="l" defTabSz="914400" rtl="0" eaLnBrk="1" latinLnBrk="1" hangingPunct="1">
        <a:lnSpc>
          <a:spcPct val="12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5559552" y="4590288"/>
            <a:ext cx="6632448" cy="15819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0" rIns="108000" bIns="0" rtlCol="0" anchor="ctr" anchorCtr="0"/>
          <a:lstStyle/>
          <a:p>
            <a:pPr marL="804863" indent="-625475">
              <a:lnSpc>
                <a:spcPct val="150000"/>
              </a:lnSpc>
            </a:pPr>
            <a:r>
              <a:rPr lang="en-US" altLang="ko-KR" sz="2000" b="1" dirty="0" err="1">
                <a:solidFill>
                  <a:schemeClr val="tx1"/>
                </a:solidFill>
              </a:rPr>
              <a:t>Soongsil</a:t>
            </a:r>
            <a:r>
              <a:rPr lang="en-US" altLang="ko-KR" sz="2000" b="1" dirty="0">
                <a:solidFill>
                  <a:schemeClr val="tx1"/>
                </a:solidFill>
              </a:rPr>
              <a:t> University</a:t>
            </a:r>
          </a:p>
          <a:p>
            <a:pPr marL="804863" indent="-625475">
              <a:lnSpc>
                <a:spcPct val="150000"/>
              </a:lnSpc>
            </a:pPr>
            <a:r>
              <a:rPr lang="en-US" altLang="ko-KR" sz="2000" b="1" dirty="0">
                <a:solidFill>
                  <a:schemeClr val="tx1"/>
                </a:solidFill>
              </a:rPr>
              <a:t>Department of Mechanical Engineering</a:t>
            </a:r>
          </a:p>
          <a:p>
            <a:pPr marL="804863" indent="-625475">
              <a:lnSpc>
                <a:spcPct val="150000"/>
              </a:lnSpc>
            </a:pPr>
            <a:r>
              <a:rPr lang="en-US" altLang="ko-KR" sz="2000" b="1" dirty="0" err="1">
                <a:solidFill>
                  <a:schemeClr val="tx1"/>
                </a:solidFill>
              </a:rPr>
              <a:t>Jaehoon</a:t>
            </a:r>
            <a:r>
              <a:rPr lang="en-US" altLang="ko-KR" sz="2000" b="1" dirty="0">
                <a:solidFill>
                  <a:schemeClr val="tx1"/>
                </a:solidFill>
              </a:rPr>
              <a:t> Jeong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DB270594-C727-49F8-BCE5-6F89ED6F32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6016"/>
            <a:ext cx="9144000" cy="2499457"/>
          </a:xfrm>
        </p:spPr>
        <p:txBody>
          <a:bodyPr anchor="ctr" anchorCtr="0">
            <a:normAutofit/>
          </a:bodyPr>
          <a:lstStyle/>
          <a:p>
            <a:r>
              <a:rPr lang="ko-KR" altLang="en-US" sz="4800" b="1" dirty="0">
                <a:latin typeface="+mn-lt"/>
              </a:rPr>
              <a:t>신뢰성공학</a:t>
            </a:r>
            <a:br>
              <a:rPr lang="en-US" altLang="ko-KR" sz="4800" b="1" dirty="0">
                <a:latin typeface="+mn-lt"/>
              </a:rPr>
            </a:br>
            <a:r>
              <a:rPr lang="en-US" altLang="ko-KR" sz="2400" b="1" dirty="0">
                <a:latin typeface="+mn-lt"/>
              </a:rPr>
              <a:t>Degradation Measurement of Robot Arm Position Accuracy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18068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B77DFE1-A093-E2BA-1634-6835E3835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9FBF38E1-B299-BF4D-78CF-B5985F4A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Motivation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C80616F-270B-92A4-CBCD-949305A6562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4A98E53E-E324-19C2-6AC0-547DC94200CD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627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F172EC7-E51E-996D-A6D9-6C662FE97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F457CB4-C69A-BB2B-91A9-FF88F179A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Motivation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236409-1F1C-0B8F-9F5B-024BF299A4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25C6F5A-B986-A336-F792-7A00357B0B84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0039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5871A-3BE8-AED1-5EEF-F14B4B479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C16716A-2AB2-54B1-ED1C-6A3B3028E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Motivation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64499B-D7E2-DAA6-5F7C-7C18160A14A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77E8B13-D50D-1FD0-C213-C4CD719B5333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5725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C3FD63-C010-3375-4E95-F603268BD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6087A861-1D4F-8B68-0290-8062528B9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3F295CEF-0012-D8BD-F3E6-6DB3E85C0A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48BC9CEC-294E-53F9-3657-D18BC9FA38B2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432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FA75D8C-0D28-65A7-EED2-058C8165A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AA8FD395-2341-E78F-D47B-5C5BDA978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9EBC0C0D-57F0-599C-3F9D-6BD45B531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855C2126-0744-7A36-44D4-D718541FE284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321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74CB442-50A7-3152-58FE-904881FB9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96D25-9861-42CC-B82C-BA5CD8B5B13B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5641E316-1029-B502-E52F-2F71A524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59216C8-A4B4-7196-15A3-AF94A0787DD0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marL="180975" indent="-180975">
              <a:buFont typeface="+mj-lt"/>
              <a:buAutoNum type="arabicPeriod"/>
            </a:pP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Qiao, </a:t>
            </a:r>
            <a:r>
              <a:rPr lang="en-US" altLang="ko-K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Guixiu</a:t>
            </a:r>
            <a:r>
              <a:rPr lang="en-US" altLang="ko-K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Brian A. Weiss. "Accuracy degradation analysis for industrial robot systems." International Manufacturing Science and Engineering Conference. Vol. 50749. American Society of Mechanical Engineers, 2017.</a:t>
            </a:r>
            <a:endParaRPr lang="ko-KR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69850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0000">
            <a:alpha val="13000"/>
          </a:srgbClr>
        </a:solidFill>
      </a:spPr>
      <a:bodyPr wrap="square" lIns="0" tIns="0" rIns="0" bIns="0" rtlCol="0" anchor="ctr" anchorCtr="0">
        <a:noAutofit/>
      </a:bodyPr>
      <a:lstStyle>
        <a:defPPr algn="ctr">
          <a:lnSpc>
            <a:spcPct val="150000"/>
          </a:lnSpc>
          <a:spcBef>
            <a:spcPts val="600"/>
          </a:spcBef>
          <a:defRPr sz="1600" b="1" dirty="0" smtClean="0"/>
        </a:defPPr>
      </a:lstStyle>
    </a:spDef>
    <a:lnDef>
      <a:spPr>
        <a:ln>
          <a:solidFill>
            <a:srgbClr val="FF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9343</TotalTime>
  <Words>70</Words>
  <Application>Microsoft Office PowerPoint</Application>
  <PresentationFormat>와이드스크린</PresentationFormat>
  <Paragraphs>17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Arial</vt:lpstr>
      <vt:lpstr>Times New Roman</vt:lpstr>
      <vt:lpstr>Trebuchet MS</vt:lpstr>
      <vt:lpstr>1_Office 테마</vt:lpstr>
      <vt:lpstr>신뢰성공학 Degradation Measurement of Robot Arm Position Accuracy</vt:lpstr>
      <vt:lpstr>Project Motivation</vt:lpstr>
      <vt:lpstr>Project Motivation</vt:lpstr>
      <vt:lpstr>Project Motivation</vt:lpstr>
      <vt:lpstr>PowerPoint 프레젠테이션</vt:lpstr>
      <vt:lpstr>PowerPoint 프레젠테이션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Robotics - 1 Week : Introduction- Manipulator &amp; Mobileplatform</dc:title>
  <dc:creator>Yu Jiwon</dc:creator>
  <cp:lastModifiedBy>정재훈</cp:lastModifiedBy>
  <cp:revision>935</cp:revision>
  <cp:lastPrinted>2020-10-28T14:09:44Z</cp:lastPrinted>
  <dcterms:created xsi:type="dcterms:W3CDTF">2020-08-31T04:31:27Z</dcterms:created>
  <dcterms:modified xsi:type="dcterms:W3CDTF">2026-06-14T14:36:00Z</dcterms:modified>
</cp:coreProperties>
</file>